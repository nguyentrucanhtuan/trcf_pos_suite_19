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các bạn đến với buổi hướng dẫn về cách thêm sản phẩm trong TRCF POS. Hôm nay chúng ta sẽ học cách tạo sản phẩm mới với đầy đủ thông tin cần thiết. Hãy cùng bắt đầu."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truy cập danh sách sản phẩm, các bạn thực hiện 3 bước như trong hình. Đầu tiên, vào module Tồn kho từ menu chính. Sau đó click vào Sản phẩm trên thanh menu, rồi chọn Sản phẩm trong danh sách hiện 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màn hình danh sách sản phẩm, các bạn hãy nhìn vào góc trên bên trái. Nút Mới màu xanh được khoanh đỏ trong hình chính là nút để tạo sản phẩm mới. Hãy nhấn vào đó để mở form tạo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tổng quan form tạo sản phẩm với 4 vùng thông tin chính. Vùng 1 là tên sản phẩm. Vùng 2 là các kênh bán hàng. Vùng 3 là loại sản phẩm. Vùng 4 là giá bán và chi phí. Chúng ta sẽ đi chi tiết từng vùng ở các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Trường Loại sản phẩm rất quan trọng. Chọn Hàng hóa nếu cần theo dõi số lượng tồn kho như nguyên liệu, thành phẩm. Chọn Dịch vụ cho các dịch vụ không lưu kho như phí ship. Combo dùng cho sản phẩm kết hợp nhiều món."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trường giá quan trọng cần điền là Giá bán và Chi phí. Giá bán là giá khách hàng sẽ thanh toán khi mua sản phẩm. Chi phí là giá vốn hoặc giá bạn mua từ nhà cung cấp. Hệ thống sẽ dùng 2 giá này để tính lợi nhuận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cấu hình thuế rất quan trọng với hóa đơn. Thuế bán hàng là VAT sẽ tính khi xuất hóa đơn cho khách. Ví dụ sản phẩm này đang áp dụng 8% VAT. Lưu ý: Cấu hình này ảnh hưởng đến cách tính giá và thuế trên hóa đơn."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thêm hình ảnh sản phẩm, nhìn vào góc trên bên phải của form. Click vào vùng hình camera để upload ảnh từ máy tính. Nên dùng ảnh vuông, kích thước từ 500x500 pixel để hiển thị đẹp trên POS và website."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điền đầy đủ thông tin, hệ thống thường tự động lưu. Nếu cần lưu thủ công, bạn có thể nhấn Ctrl + S. Sản phẩm đã tạo sẽ xuất hiện trong danh sách như hình."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cài đặt quan trọng là checkbox Theo dõi hàng tồn kho. Bật checkbox này nếu bạn muốn hệ thống theo dõi số lượng tồn. Khi bật, bạn sẽ thấy số lượng hiện có và hệ thống tự động cập nhật khi xuất nhập kho. Nên bật cho hàng hóa, tắt cho dịch vụ."</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kết thúc, có một số lưu ý quan trọng. Đầu tiên, đặt tên sản phẩm rõ ràng để dễ tìm kiếm. Thứ hai, sau khi đã có giao dịch kho, không nên tắt theo dõi tồn kho. Và cuối cùng, nhớ tick đúng kênh bán hàng để sản phẩm hiển thị đúng nơi cần."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Vậy là chúng ta đã hoàn thành buổi hướng dẫn. Các bạn đã biết cách truy cập và tạo sản phẩm mới với đầy đủ thông tin. Từ tên sản phẩm, giá bán, chi phí, thuế, cho đến hình ảnh và theo dõi tồn kho. Hãy thử thực hành ngay trên hệ thống hôm nay. Cảm ơn các bạn đã theo dõi!"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Giới thiệu</a:t>
            </a:r>
          </a:p>
        </p:txBody>
      </p:sp>
      <p:pic>
        <p:nvPicPr>
          <p:cNvPr id="3" name="Picture 2" descr="slide_01_intro_1768535214003.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Mục đích: Hướng dẫn tạo sản phẩm mới trong TRCF POS</a:t>
            </a:r>
          </a:p>
          <a:p>
            <a:pPr>
              <a:defRPr sz="1800">
                <a:solidFill>
                  <a:srgbClr val="333333"/>
                </a:solidFill>
              </a:defRPr>
            </a:pPr>
            <a:r>
              <a:t>• Đối tượng: Quản lý cửa hàng, Nhân viên kho, Nhân viên bán hàng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Truy cập danh sách sản phẩm</a:t>
            </a:r>
          </a:p>
        </p:txBody>
      </p:sp>
      <p:pic>
        <p:nvPicPr>
          <p:cNvPr id="3" name="Picture 2" descr="slide_02_menu_path_real_1768536977327.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**Bước 1**: Vào module **Tồn kho**</a:t>
            </a:r>
          </a:p>
          <a:p>
            <a:pPr>
              <a:defRPr sz="1800">
                <a:solidFill>
                  <a:srgbClr val="333333"/>
                </a:solidFill>
              </a:defRPr>
            </a:pPr>
            <a:r>
              <a:t>• **Bước 2**: Click menu **Sản phẩm** trên thanh navigation</a:t>
            </a:r>
          </a:p>
          <a:p>
            <a:pPr>
              <a:defRPr sz="1800">
                <a:solidFill>
                  <a:srgbClr val="333333"/>
                </a:solidFill>
              </a:defRPr>
            </a:pPr>
            <a:r>
              <a:t>• **Bước 3**: Chọn **Sản phẩm** trong dropdown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Nhấn nút "Mới"</a:t>
            </a:r>
          </a:p>
        </p:txBody>
      </p:sp>
      <p:pic>
        <p:nvPicPr>
          <p:cNvPr id="3" name="Picture 2" descr="slide_03_new_button_real_1768536077261.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Vị trí: Góc trên bên trái màn hình</a:t>
            </a:r>
          </a:p>
          <a:p>
            <a:pPr>
              <a:defRPr sz="1800">
                <a:solidFill>
                  <a:srgbClr val="333333"/>
                </a:solidFill>
              </a:defRPr>
            </a:pPr>
            <a:r>
              <a:t>• Hành động: Nhấn nút **"Mới"** màu xanh để tạo sản phẩm mới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Tổng quan Form sản phẩm</a:t>
            </a:r>
          </a:p>
        </p:txBody>
      </p:sp>
      <p:pic>
        <p:nvPicPr>
          <p:cNvPr id="3" name="Picture 2" descr="slide_04_product_form_annotated_1768536155225.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 # | Vùng | Mô tả |</a:t>
            </a:r>
          </a:p>
          <a:p>
            <a:pPr>
              <a:defRPr sz="1800">
                <a:solidFill>
                  <a:srgbClr val="333333"/>
                </a:solidFill>
              </a:defRPr>
            </a:pPr>
            <a:r>
              <a:t>• | 1 | Tên sản phẩm | Nhập tên rõ ràng, dễ nhận biết |</a:t>
            </a:r>
          </a:p>
          <a:p>
            <a:pPr>
              <a:defRPr sz="1800">
                <a:solidFill>
                  <a:srgbClr val="333333"/>
                </a:solidFill>
              </a:defRPr>
            </a:pPr>
            <a:r>
              <a:t>• | 2 | Kênh bán hàng | Bán hàng, POS, Mua hàng |</a:t>
            </a:r>
          </a:p>
          <a:p>
            <a:pPr>
              <a:defRPr sz="1800">
                <a:solidFill>
                  <a:srgbClr val="333333"/>
                </a:solidFill>
              </a:defRPr>
            </a:pPr>
            <a:r>
              <a:t>• | 3 | Loại sản phẩm | Hàng hóa / Dịch vụ / Combo |</a:t>
            </a:r>
          </a:p>
          <a:p>
            <a:pPr>
              <a:defRPr sz="1800">
                <a:solidFill>
                  <a:srgbClr val="333333"/>
                </a:solidFill>
              </a:defRPr>
            </a:pPr>
            <a:r>
              <a:t>• | 4 | Giá &amp; Chi phí | Giá bán và giá vốn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Chọn loại sản phẩm</a:t>
            </a:r>
          </a:p>
        </p:txBody>
      </p:sp>
      <p:pic>
        <p:nvPicPr>
          <p:cNvPr id="3" name="Picture 2" descr="slide_05_product_type_real_1768537343085.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 Loại | Ý nghĩa | Sử dụng khi |</a:t>
            </a:r>
          </a:p>
          <a:p>
            <a:pPr>
              <a:defRPr sz="1800">
                <a:solidFill>
                  <a:srgbClr val="333333"/>
                </a:solidFill>
              </a:defRPr>
            </a:pPr>
            <a:r>
              <a:t>• | **Hàng hóa** ✅ | Theo dõi tồn kho | Nguyên liệu, thành phẩm |</a:t>
            </a:r>
          </a:p>
          <a:p>
            <a:pPr>
              <a:defRPr sz="1800">
                <a:solidFill>
                  <a:srgbClr val="333333"/>
                </a:solidFill>
              </a:defRPr>
            </a:pPr>
            <a:r>
              <a:t>• | **Dịch vụ** | Không theo dõi tồn kho | Phí ship, dịch vụ |</a:t>
            </a:r>
          </a:p>
          <a:p>
            <a:pPr>
              <a:defRPr sz="1800">
                <a:solidFill>
                  <a:srgbClr val="333333"/>
                </a:solidFill>
              </a:defRPr>
            </a:pPr>
            <a:r>
              <a:t>• | **Combo** | Kết hợp nhiều sản phẩm | Combo bữa ăn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Nhập giá bán &amp; Chi phí</a:t>
            </a:r>
          </a:p>
        </p:txBody>
      </p:sp>
      <p:pic>
        <p:nvPicPr>
          <p:cNvPr id="3" name="Picture 2" descr="slide_06_price_cost_real_1768537358625.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 # | Trường | Ý nghĩa | Ví dụ |</a:t>
            </a:r>
          </a:p>
          <a:p>
            <a:pPr>
              <a:defRPr sz="1800">
                <a:solidFill>
                  <a:srgbClr val="333333"/>
                </a:solidFill>
              </a:defRPr>
            </a:pPr>
            <a:r>
              <a:t>• | 1 | **Giá bán** | Giá khách hàng trả | 69,000 đ |</a:t>
            </a:r>
          </a:p>
          <a:p>
            <a:pPr>
              <a:defRPr sz="1800">
                <a:solidFill>
                  <a:srgbClr val="333333"/>
                </a:solidFill>
              </a:defRPr>
            </a:pPr>
            <a:r>
              <a:t>• | 2 | **Chi phí** | Giá vốn / Giá mua | 25,000 đ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Cấu hình thuế</a:t>
            </a:r>
          </a:p>
        </p:txBody>
      </p:sp>
      <p:pic>
        <p:nvPicPr>
          <p:cNvPr id="3" name="Picture 2" descr="slide_07_taxes_real_1768537374488.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**Thuế bán hàng**: VAT áp dụng khi bán cho khách (8%, 10%, 0%)</a:t>
            </a:r>
          </a:p>
          <a:p>
            <a:pPr>
              <a:defRPr sz="1800">
                <a:solidFill>
                  <a:srgbClr val="333333"/>
                </a:solidFill>
              </a:defRPr>
            </a:pPr>
            <a:r>
              <a:t>• ⚠️ Thuế ảnh hưởng đến giá hiển thị trên hóa đơn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Thêm hình ảnh sản phẩm</a:t>
            </a:r>
          </a:p>
        </p:txBody>
      </p:sp>
      <p:pic>
        <p:nvPicPr>
          <p:cNvPr id="3" name="Picture 2" descr="odoo_new_product_form_1768536109520.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**Vị trí**: Góc trên bên phải form sản phẩm (vùng camera icon)</a:t>
            </a:r>
          </a:p>
          <a:p>
            <a:pPr>
              <a:defRPr sz="1800">
                <a:solidFill>
                  <a:srgbClr val="333333"/>
                </a:solidFill>
              </a:defRPr>
            </a:pPr>
            <a:r>
              <a:t>• **Định dạng hỗ trợ**: PNG, JPG, WEBP</a:t>
            </a:r>
          </a:p>
          <a:p>
            <a:pPr>
              <a:defRPr sz="1800">
                <a:solidFill>
                  <a:srgbClr val="333333"/>
                </a:solidFill>
              </a:defRPr>
            </a:pPr>
            <a:r>
              <a:t>• **Kích thước khuyến nghị**: 500x500 pixel, tỷ lệ 1:1 (vuông)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Lưu sản phẩm</a:t>
            </a:r>
          </a:p>
        </p:txBody>
      </p:sp>
      <p:pic>
        <p:nvPicPr>
          <p:cNvPr id="3" name="Picture 2" descr="odoo_product_list_view_1768536026757.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**Cách 1**: Nhấn nút **"Lưu"** trên thanh toolbar (hoặc tự động lưu)</a:t>
            </a:r>
          </a:p>
          <a:p>
            <a:pPr>
              <a:defRPr sz="1800">
                <a:solidFill>
                  <a:srgbClr val="333333"/>
                </a:solidFill>
              </a:defRPr>
            </a:pPr>
            <a:r>
              <a:t>• **Cách 2**: Nhấn tổ hợp phím `Ctrl + S`</a:t>
            </a:r>
          </a:p>
          <a:p>
            <a:pPr>
              <a:defRPr sz="1800">
                <a:solidFill>
                  <a:srgbClr val="333333"/>
                </a:solidFill>
              </a:defRPr>
            </a:pPr>
            <a:r>
              <a:t>• Sản phẩm mới sẽ xuất hiện trong danh sách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Theo dõi hàng tồn kho</a:t>
            </a:r>
          </a:p>
        </p:txBody>
      </p:sp>
      <p:pic>
        <p:nvPicPr>
          <p:cNvPr id="3" name="Picture 2" descr="slide_10_inventory_tracking_real_1768537388961.png"/>
          <p:cNvPicPr>
            <a:picLocks noChangeAspect="1"/>
          </p:cNvPicPr>
          <p:nvPr/>
        </p:nvPicPr>
        <p:blipFill>
          <a:blip r:embed="rId2"/>
          <a:stretch>
            <a:fillRect/>
          </a:stretch>
        </p:blipFill>
        <p:spPr>
          <a:xfrm>
            <a:off x="4800600" y="1097280"/>
            <a:ext cx="5029200" cy="5029200"/>
          </a:xfrm>
          <a:prstGeom prst="rect">
            <a:avLst/>
          </a:prstGeom>
        </p:spPr>
      </p:pic>
      <p:sp>
        <p:nvSpPr>
          <p:cNvPr id="4" name="TextBox 3"/>
          <p:cNvSpPr txBox="1"/>
          <p:nvPr/>
        </p:nvSpPr>
        <p:spPr>
          <a:xfrm>
            <a:off x="457200" y="6400800"/>
            <a:ext cx="13716000" cy="1371600"/>
          </a:xfrm>
          <a:prstGeom prst="rect">
            <a:avLst/>
          </a:prstGeom>
          <a:noFill/>
        </p:spPr>
        <p:txBody>
          <a:bodyPr wrap="square">
            <a:spAutoFit/>
          </a:bodyPr>
          <a:lstStyle/>
          <a:p>
            <a:pPr>
              <a:defRPr sz="1800">
                <a:solidFill>
                  <a:srgbClr val="333333"/>
                </a:solidFill>
              </a:defRPr>
            </a:pPr>
            <a:r>
              <a:t>• **Checkbox**: "Theo dõi hàng tồn kho" trong tab Thông tin chung</a:t>
            </a:r>
          </a:p>
          <a:p>
            <a:pPr>
              <a:defRPr sz="1800">
                <a:solidFill>
                  <a:srgbClr val="333333"/>
                </a:solidFill>
              </a:defRPr>
            </a:pPr>
            <a:r>
              <a:t>• **Khi bật** ✅: Hiển thị số lượng "Hiện có", cập nhật khi xuất/nhập kho</a:t>
            </a:r>
          </a:p>
          <a:p>
            <a:pPr>
              <a:defRPr sz="1800">
                <a:solidFill>
                  <a:srgbClr val="333333"/>
                </a:solidFill>
              </a:defRPr>
            </a:pPr>
            <a:r>
              <a:t>• **Khi tắt** ❌: Không theo dõi số lượng, luôn coi như có sẵn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Lưu ý quan trọng</a:t>
            </a:r>
          </a:p>
        </p:txBody>
      </p:sp>
      <p:pic>
        <p:nvPicPr>
          <p:cNvPr id="3" name="Picture 2" descr="slide_11_tips_1768535395854.png"/>
          <p:cNvPicPr>
            <a:picLocks noChangeAspect="1"/>
          </p:cNvPicPr>
          <p:nvPr/>
        </p:nvPicPr>
        <p:blipFill>
          <a:blip r:embed="rId2"/>
          <a:stretch>
            <a:fillRect/>
          </a:stretch>
        </p:blipFill>
        <p:spPr>
          <a:xfrm>
            <a:off x="4800600" y="1097280"/>
            <a:ext cx="5029200"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3716000" cy="731520"/>
          </a:xfrm>
          <a:prstGeom prst="rect">
            <a:avLst/>
          </a:prstGeom>
          <a:noFill/>
        </p:spPr>
        <p:txBody>
          <a:bodyPr wrap="none">
            <a:spAutoFit/>
          </a:bodyPr>
          <a:lstStyle/>
          <a:p>
            <a:pPr algn="l">
              <a:defRPr sz="3600" b="1">
                <a:solidFill>
                  <a:srgbClr val="1A365D"/>
                </a:solidFill>
              </a:defRPr>
            </a:pPr>
            <a:r>
              <a:t>Tổng kết</a:t>
            </a:r>
          </a:p>
        </p:txBody>
      </p:sp>
      <p:pic>
        <p:nvPicPr>
          <p:cNvPr id="3" name="Picture 2" descr="slide_12_summary_1768535410472.png"/>
          <p:cNvPicPr>
            <a:picLocks noChangeAspect="1"/>
          </p:cNvPicPr>
          <p:nvPr/>
        </p:nvPicPr>
        <p:blipFill>
          <a:blip r:embed="rId2"/>
          <a:stretch>
            <a:fillRect/>
          </a:stretch>
        </p:blipFill>
        <p:spPr>
          <a:xfrm>
            <a:off x="4800600" y="1097280"/>
            <a:ext cx="502920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